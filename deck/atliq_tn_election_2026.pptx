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834640"/>
            <a:ext cx="164592" cy="64008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Calibri"/>
              </a:rPr>
              <a:t>RPC — An editorial deck for AtliQ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Decoding the 2026 Tamil Nadu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Assembly 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Calibri"/>
              </a:rPr>
              <a:t>How 234 seats moved — told with only ECI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Prepared by SK   |   Data: Election Commission of India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63946"/>
                </a:solidFill>
                <a:latin typeface="Calibri"/>
              </a:rPr>
              <a:t>THE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Georgia"/>
              </a:rPr>
              <a:t>108 / 234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seats won by TVK in the 2026 Tamil Nadu Assembly election.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1">
                <a:solidFill>
                  <a:srgbClr val="CADCFC"/>
                </a:solidFill>
                <a:latin typeface="Calibri"/>
              </a:rPr>
              <a:t>A party that did not exist in 2021.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  <a:latin typeface="Calibri"/>
              </a:rPr>
              <a:t>Source: Election Commission of India  |  Non-partisan editorial analysis  |  AtliQ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ADCFC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" cy="4572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Three stories. One thread.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Calibri"/>
              </a:rPr>
              <a:t>What AtliQ's 60-minute show should be built around.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3520440" cy="3657600"/>
          </a:xfrm>
          <a:prstGeom prst="rect">
            <a:avLst/>
          </a:prstGeom>
          <a:solidFill>
            <a:srgbClr val="F2F2F2"/>
          </a:solidFill>
          <a:ln w="9525">
            <a:solidFill>
              <a:srgbClr val="C0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E63946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The Flip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3246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6454F"/>
                </a:solidFill>
                <a:latin typeface="Calibri"/>
              </a:rPr>
              <a:t>234 seats. 163 changed hands. Where they moved — at a glance.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011680"/>
            <a:ext cx="3520440" cy="3657600"/>
          </a:xfrm>
          <a:prstGeom prst="rect">
            <a:avLst/>
          </a:prstGeom>
          <a:solidFill>
            <a:srgbClr val="F2F2F2"/>
          </a:solidFill>
          <a:ln w="9525">
            <a:solidFill>
              <a:srgbClr val="C0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9456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E63946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1752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The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657600"/>
            <a:ext cx="3246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6454F"/>
                </a:solidFill>
                <a:latin typeface="Calibri"/>
              </a:rPr>
              <a:t>Where TVK's 34.9% statewide vote share came from — and what shrunk to make room.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2011680"/>
            <a:ext cx="3520440" cy="3657600"/>
          </a:xfrm>
          <a:prstGeom prst="rect">
            <a:avLst/>
          </a:prstGeom>
          <a:solidFill>
            <a:srgbClr val="F2F2F2"/>
          </a:solidFill>
          <a:ln w="9525">
            <a:solidFill>
              <a:srgbClr val="C0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19456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E63946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1752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The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657600"/>
            <a:ext cx="3246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6454F"/>
                </a:solidFill>
                <a:latin typeface="Calibri"/>
              </a:rPr>
              <a:t>Wins got narrower across the board. The pattern that connects every contest.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  <a:latin typeface="Calibri"/>
              </a:rPr>
              <a:t>Source: Election Commission of India  |  Non-partisan editorial analysis  |  AtliQ 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" cy="4572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Before the three stories — one frame.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9436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6454F"/>
                </a:solidFill>
                <a:latin typeface="Calibri"/>
              </a:rPr>
              <a:t>In a single election cycle, the seat map of Tamil Nadu shifted in ways the state has not seen in any single cycle for decades.</a:t>
            </a:r>
          </a:p>
          <a:p>
            <a:pPr algn="l"/>
            <a:r>
              <a:rPr sz="17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700" b="0" i="0">
                <a:solidFill>
                  <a:srgbClr val="36454F"/>
                </a:solidFill>
                <a:latin typeface="Calibri"/>
              </a:rPr>
              <a:t>All three of the stories in this deck flow from one structural change: a third pillar entered a contest the state had organised as a two-front race since 1967.</a:t>
            </a:r>
          </a:p>
          <a:p>
            <a:pPr algn="l"/>
            <a:r>
              <a:rPr sz="17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700" b="0" i="0">
                <a:solidFill>
                  <a:srgbClr val="36454F"/>
                </a:solidFill>
                <a:latin typeface="Calibri"/>
              </a:rPr>
              <a:t>The numbers do not require interpretation. They require attention.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4389120" cy="3657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2103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STAT THAT FRAMES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606040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Georgia"/>
              </a:rPr>
              <a:t>163 / 234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389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seats changed winning party.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8463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Calibri"/>
              </a:rPr>
              <a:t>= 69.7% of every constituency in TN.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  <a:latin typeface="Calibri"/>
              </a:rPr>
              <a:t>Source: Election Commission of India  |  Non-partisan editorial analysis  |  AtliQ Media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01  THE FLIP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Georgia"/>
              </a:rPr>
              <a:t>234 seats. Where they moved. 2021 →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206240"/>
          </a:xfrm>
          <a:prstGeom prst="rect">
            <a:avLst/>
          </a:prstGeom>
          <a:solidFill>
            <a:srgbClr val="F2F2F2"/>
          </a:solidFill>
          <a:ln w="9525">
            <a:solidFill>
              <a:srgbClr val="C0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Calibri"/>
              </a:rPr>
              <a:t>[ Insert: Chart 1 — Sankey diagram (2021 → 2026 seat flows) ]</a:t>
            </a:r>
          </a:p>
          <a:p>
            <a:pPr algn="ctr"/>
            <a:r>
              <a:rPr sz="1400" b="0" i="1">
                <a:solidFill>
                  <a:srgbClr val="666666"/>
                </a:solidFill>
                <a:latin typeface="Calibri"/>
              </a:rPr>
              <a:t>(replace this box with your screenshot)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6454F"/>
                </a:solidFill>
                <a:latin typeface="Calibri"/>
              </a:rPr>
              <a:t>Of TVK's 108 wins: 65 from DMK · 26 from AIADMK · 11 from INC · 6 from BJP/PMK/VCK/CPI(M)/OTHERS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  <a:latin typeface="Calibri"/>
              </a:rPr>
              <a:t>Source: Election Commission of India  |  Non-partisan editorial analysis  |  AtliQ 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02 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Georgia"/>
              </a:rPr>
              <a:t>Where TVK's 34.9% statewide share came from.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772400" cy="4389120"/>
          </a:xfrm>
          <a:prstGeom prst="rect">
            <a:avLst/>
          </a:prstGeom>
          <a:solidFill>
            <a:srgbClr val="F2F2F2"/>
          </a:solidFill>
          <a:ln w="9525">
            <a:solidFill>
              <a:srgbClr val="C0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7772400" cy="438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Calibri"/>
              </a:rPr>
              <a:t>[ Insert: Chart 2 — Statewide vote share, 2021 vs 2026 ]</a:t>
            </a:r>
          </a:p>
          <a:p>
            <a:pPr algn="ctr"/>
            <a:r>
              <a:rPr sz="1400" b="0" i="1">
                <a:solidFill>
                  <a:srgbClr val="666666"/>
                </a:solidFill>
                <a:latin typeface="Calibri"/>
              </a:rPr>
              <a:t>(replace this box with your screenshot)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1554480"/>
            <a:ext cx="3200400" cy="4389120"/>
          </a:xfrm>
          <a:prstGeom prst="rect">
            <a:avLst/>
          </a:prstGeom>
          <a:solidFill>
            <a:srgbClr val="F2F2F2"/>
          </a:solidFill>
          <a:ln w="9525">
            <a:solidFill>
              <a:srgbClr val="C0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373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DROPS FROM 2021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194560"/>
            <a:ext cx="2834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6454F"/>
                </a:solidFill>
                <a:latin typeface="Calibri"/>
              </a:rPr>
              <a:t>DMK:     -13.5 pp</a:t>
            </a:r>
          </a:p>
          <a:p>
            <a:pPr algn="l"/>
            <a:r>
              <a:rPr sz="1500" b="0" i="0">
                <a:solidFill>
                  <a:srgbClr val="36454F"/>
                </a:solidFill>
                <a:latin typeface="Calibri"/>
              </a:rPr>
              <a:t>AIADMK: -12.1 pp</a:t>
            </a:r>
          </a:p>
          <a:p>
            <a:pPr algn="l"/>
            <a:r>
              <a:rPr sz="1500" b="0" i="0">
                <a:solidFill>
                  <a:srgbClr val="36454F"/>
                </a:solidFill>
                <a:latin typeface="Calibri"/>
              </a:rPr>
              <a:t>NTK:      -2.6 pp</a:t>
            </a:r>
          </a:p>
          <a:p>
            <a:pPr algn="l"/>
            <a:r>
              <a:rPr sz="1500" b="0" i="0">
                <a:solidFill>
                  <a:srgbClr val="36454F"/>
                </a:solidFill>
                <a:latin typeface="Calibri"/>
              </a:rPr>
              <a:t>OTHERS:  -2.6 pp</a:t>
            </a:r>
          </a:p>
          <a:p>
            <a:pPr algn="l"/>
            <a:r>
              <a:rPr sz="1500" b="0" i="0">
                <a:solidFill>
                  <a:srgbClr val="36454F"/>
                </a:solidFill>
                <a:latin typeface="Calibri"/>
              </a:rPr>
              <a:t>PMK:      -1.6 pp</a:t>
            </a:r>
          </a:p>
          <a:p>
            <a:pPr algn="l"/>
            <a:r>
              <a:rPr sz="1500" b="0" i="0">
                <a:solidFill>
                  <a:srgbClr val="36454F"/>
                </a:solidFill>
                <a:latin typeface="Calibri"/>
              </a:rPr>
              <a:t>AMMK:     -1.5 pp</a:t>
            </a:r>
          </a:p>
          <a:p>
            <a:pPr algn="l"/>
            <a:r>
              <a:rPr sz="1500" b="0" i="0">
                <a:solidFill>
                  <a:srgbClr val="36454F"/>
                </a:solidFill>
                <a:latin typeface="Calibri"/>
              </a:rPr>
              <a:t>INC:        -0.9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5720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TVK 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93776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Georgia"/>
              </a:rPr>
              <a:t>+34.9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54864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36454F"/>
                </a:solidFill>
                <a:latin typeface="Calibri"/>
              </a:rPr>
              <a:t>= sum of all the drops.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  <a:latin typeface="Calibri"/>
              </a:rPr>
              <a:t>Source: Election Commission of India  |  Non-partisan editorial analysis  |  AtliQ Media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03  THE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Georgia"/>
              </a:rPr>
              <a:t>Wins got narrower across the 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772400" cy="4389120"/>
          </a:xfrm>
          <a:prstGeom prst="rect">
            <a:avLst/>
          </a:prstGeom>
          <a:solidFill>
            <a:srgbClr val="F2F2F2"/>
          </a:solidFill>
          <a:ln w="9525">
            <a:solidFill>
              <a:srgbClr val="C0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7772400" cy="438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Calibri"/>
              </a:rPr>
              <a:t>[ Insert: Chart 3 — Vote-share buckets, 2021 vs 2026 ]</a:t>
            </a:r>
          </a:p>
          <a:p>
            <a:pPr algn="ctr"/>
            <a:r>
              <a:rPr sz="1400" b="0" i="1">
                <a:solidFill>
                  <a:srgbClr val="666666"/>
                </a:solidFill>
                <a:latin typeface="Calibri"/>
              </a:rPr>
              <a:t>(replace this box with your screenshot)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1554480"/>
            <a:ext cx="320040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C0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69163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DECISIVE WINS (&gt;50%)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05740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70 -&gt;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3017520"/>
            <a:ext cx="320040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C0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315467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MINORITY WINS (&lt;35%)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520439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2 -&gt; 64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4480560"/>
            <a:ext cx="320040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C0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4617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MEDIAN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9834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9.5% -&gt; 5.7%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  <a:latin typeface="Calibri"/>
              </a:rPr>
              <a:t>Source: Election Commission of India  |  Non-partisan editorial analysis  |  AtliQ 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REGIONAL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Georgia"/>
              </a:rPr>
              <a:t>The pattern held across all six regions.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206240"/>
          </a:xfrm>
          <a:prstGeom prst="rect">
            <a:avLst/>
          </a:prstGeom>
          <a:solidFill>
            <a:srgbClr val="F2F2F2"/>
          </a:solidFill>
          <a:ln w="9525">
            <a:solidFill>
              <a:srgbClr val="C0C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Calibri"/>
              </a:rPr>
              <a:t>[ Insert: Chart 4 — Seats by region, 2021 vs 2026 ]</a:t>
            </a:r>
          </a:p>
          <a:p>
            <a:pPr algn="ctr"/>
            <a:r>
              <a:rPr sz="1400" b="0" i="1">
                <a:solidFill>
                  <a:srgbClr val="666666"/>
                </a:solidFill>
                <a:latin typeface="Calibri"/>
              </a:rPr>
              <a:t>(replace this box with your screenshot)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6454F"/>
                </a:solidFill>
                <a:latin typeface="Calibri"/>
              </a:rPr>
              <a:t>TVK won seats in every region. Chennai Metro near-reversal: DMK 29-&gt;2  ·  TVK 0-&gt;29 of 32 seats.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  <a:latin typeface="Calibri"/>
              </a:rPr>
              <a:t>Source: Election Commission of India  |  Non-partisan editorial analysis  |  AtliQ 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" cy="4572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Editorial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How the 60-minute show opens, pivots, and closes.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63946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Georgia"/>
              </a:rPr>
              <a:t>OPEN with one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Anchor opens with: "108 of 234." Pause. Then: "A party that did not exist in 2021."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63946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Georgia"/>
              </a:rPr>
              <a:t>PIVOT to the flip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490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Show the Sankey. Voiceover: "And here is where those 108 came from." 65 DMK + 26 AIADMK + 11 INC + 6 others.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63946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548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Georgia"/>
              </a:rPr>
              <a:t>CLOSE with the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Show the bucket chart. "Decisive wins fell from 70 to 13. Minority wins rose from 2 to 64. This is what a tighter contest looks like."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828800"/>
            <a:ext cx="4023360" cy="411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965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TONE DISCIPLINE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377440"/>
            <a:ext cx="36576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Every line must read identically to a supporter of any party.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WORDS TO AVOID: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    smashed - collapsed - swept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    destroyed - ended - broke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WORDS TO KEEP: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    won - lost - moved - shifted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    pulled from - came from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NEVER attribute causation. The data shows what moved -- not why.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  <a:latin typeface="Calibri"/>
              </a:rPr>
              <a:t>Source: Election Commission of India  |  Non-partisan editorial analysis  |  AtliQ 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WHAT THIS DATA CAN AND CANNOT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Limitations, methodology, and honesty.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TURNOUT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The 2026 turnout column is blank in the source CSV. Turnout-driven stories were not analysed in this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FORM-20 NOT YET RELEASED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All 2026 numbers are from the ECI live results portal ahead of the final audited Form-20.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DUPLICATE CANDIDATES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39 same-name cases retained. Pattern is the known dummy-candidate ballot-confusion tactic plus common-name collisions among independents.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PARTY NORMALISATION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977639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13 major parties tracked explicitly; ~110 fringe parties bucketed as OTHERS. Does not affect headline numbers.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WHAT WE DO NOT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2356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No causal explanation for any flip. No prediction of future elections. No assessment of any party, leader, region or community.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212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SOURCES &amp; REPRODUCIBILITY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62356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Code + notebook + data: github.com/&lt;SK&gt;/tn-election-2026-decoded</a:t>
            </a:r>
          </a:p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Primary source: ECI -- Cross-check: Trivedi Centre, Ashoka University.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  <a:latin typeface="Calibri"/>
              </a:rPr>
              <a:t>Source: Election Commission of India  |  Non-partisan editorial analysis  |  AtliQ 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ADCFC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